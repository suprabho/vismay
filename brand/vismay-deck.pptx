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07A6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V.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0515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500" kern="0" dirty="0">
                <a:solidFill>
                  <a:srgbClr val="E07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VISMAY  ·  A STUDIO FOR HUMAN-BUILT IP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0" y="1645920"/>
            <a:ext cx="9144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Vismay.</a:t>
            </a:r>
            <a:endParaRPr lang="en-US" sz="12000" dirty="0"/>
          </a:p>
        </p:txBody>
      </p:sp>
      <p:sp>
        <p:nvSpPr>
          <p:cNvPr id="5" name="Text 3"/>
          <p:cNvSpPr/>
          <p:nvPr/>
        </p:nvSpPr>
        <p:spPr>
          <a:xfrm>
            <a:off x="0" y="338328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rgbClr val="EBE3D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studio for human-built IP on a reclaimed internet.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4023360" y="4160520"/>
            <a:ext cx="1097280" cy="0"/>
          </a:xfrm>
          <a:prstGeom prst="line">
            <a:avLst/>
          </a:prstGeom>
          <a:noFill/>
          <a:ln w="19050">
            <a:solidFill>
              <a:srgbClr val="C84B3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0" y="45034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spc="400" kern="0" dirty="0">
                <a:solidFill>
                  <a:srgbClr val="B5A9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SUPRO  · 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84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046720" y="38404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E6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13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0F14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internet stopped being ours.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594360" y="2066544"/>
            <a:ext cx="109728" cy="109728"/>
          </a:xfrm>
          <a:prstGeom prst="ellipse">
            <a:avLst/>
          </a:prstGeom>
          <a:solidFill>
            <a:srgbClr val="C84B31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92024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A2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Distribution is owned by a handful of feudal techlords.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94360" y="2615184"/>
            <a:ext cx="109728" cy="109728"/>
          </a:xfrm>
          <a:prstGeom prst="ellipse">
            <a:avLst/>
          </a:prstGeom>
          <a:solidFill>
            <a:srgbClr val="C84B31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246888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A2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feed is algorithm-shaped, optimizing for something other than you.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94360" y="3163824"/>
            <a:ext cx="109728" cy="109728"/>
          </a:xfrm>
          <a:prstGeom prst="ellipse">
            <a:avLst/>
          </a:prstGeom>
          <a:solidFill>
            <a:srgbClr val="C84B31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301752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A2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is eating the parts of work that were never the point.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94360" y="3712464"/>
            <a:ext cx="109728" cy="109728"/>
          </a:xfrm>
          <a:prstGeom prst="ellipse">
            <a:avLst/>
          </a:prstGeom>
          <a:solidFill>
            <a:srgbClr val="C84B31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356616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A2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opposite move — slow, human, named, obsessed with one thing — is suddenly available again.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48640" y="4366260"/>
            <a:ext cx="731520" cy="0"/>
          </a:xfrm>
          <a:prstGeom prst="line">
            <a:avLst/>
          </a:prstGeom>
          <a:noFill/>
          <a:ln w="15240">
            <a:solidFill>
              <a:srgbClr val="C84B3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45034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E63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conditions for this kind of work haven't been this good in fifteen years.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84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THESIS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046720" y="38404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E6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13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dirty="0">
                <a:solidFill>
                  <a:srgbClr val="C84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548640" y="1783080"/>
            <a:ext cx="8046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3000" dirty="0">
                <a:solidFill>
                  <a:srgbClr val="0F14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Reclaim a piece of the internet by</a:t>
            </a:r>
            <a:endParaRPr lang="en-US" sz="3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3000" dirty="0">
                <a:solidFill>
                  <a:srgbClr val="0F14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building IP with people who actually care.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3749040"/>
            <a:ext cx="731520" cy="0"/>
          </a:xfrm>
          <a:prstGeom prst="line">
            <a:avLst/>
          </a:prstGeom>
          <a:noFill/>
          <a:ln w="19050">
            <a:solidFill>
              <a:srgbClr val="C84B3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88620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A2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Pair a friend who has a real, durable obsession in a domain — with a shared engine that handles everything below the craft. Build the brand together, for the long run.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84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046720" y="38404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E6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13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0F14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Partner brings taste — I bring the engine.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48640" y="18288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5A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PARTNER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224028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F14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Voice, taste, obsession.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274320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F14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Editorial direction.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324612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F14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Owns the brand and the community.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0" y="1828800"/>
            <a:ext cx="0" cy="1965960"/>
          </a:xfrm>
          <a:prstGeom prst="line">
            <a:avLst/>
          </a:prstGeom>
          <a:noFill/>
          <a:ln w="12700">
            <a:solidFill>
              <a:srgbClr val="C9BFA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54880" y="18288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84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VISMAY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754880" y="224028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F14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Engine, ingest, render pipelines.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754880" y="274320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F14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Production value of a major publication.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754880" y="324612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F14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 horizon and infrastructure.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0" y="4091940"/>
            <a:ext cx="9144000" cy="1051560"/>
          </a:xfrm>
          <a:prstGeom prst="rect">
            <a:avLst/>
          </a:prstGeom>
          <a:solidFill>
            <a:srgbClr val="EBE3D2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430225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0F14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They grow the IP. I grow with them.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548640" y="473202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6E6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That's what success looks like to me.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84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PROCESS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046720" y="38404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E6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13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0F14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Same pipeline for every IP.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548640" y="2240280"/>
            <a:ext cx="14173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FA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240280"/>
            <a:ext cx="1417320" cy="109728"/>
          </a:xfrm>
          <a:prstGeom prst="rect">
            <a:avLst/>
          </a:prstGeom>
          <a:solidFill>
            <a:srgbClr val="C84B31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2441448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21792" y="2834640"/>
            <a:ext cx="12710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E63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scraping +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i="1" dirty="0">
                <a:solidFill>
                  <a:srgbClr val="6E63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tagging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002536" y="2926080"/>
            <a:ext cx="166878" cy="0"/>
          </a:xfrm>
          <a:prstGeom prst="line">
            <a:avLst/>
          </a:prstGeom>
          <a:noFill/>
          <a:ln w="19050">
            <a:solidFill>
              <a:srgbClr val="2A2F3A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205990" y="2240280"/>
            <a:ext cx="14173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FA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205990" y="2240280"/>
            <a:ext cx="1417320" cy="109728"/>
          </a:xfrm>
          <a:prstGeom prst="rect">
            <a:avLst/>
          </a:prstGeom>
          <a:solidFill>
            <a:srgbClr val="5A7A6B"/>
          </a:solidFill>
          <a:ln/>
        </p:spPr>
      </p:sp>
      <p:sp>
        <p:nvSpPr>
          <p:cNvPr id="12" name="Text 10"/>
          <p:cNvSpPr/>
          <p:nvPr/>
        </p:nvSpPr>
        <p:spPr>
          <a:xfrm>
            <a:off x="2205990" y="2441448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279142" y="2834640"/>
            <a:ext cx="12710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E63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supabase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i="1" dirty="0">
                <a:solidFill>
                  <a:srgbClr val="6E63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postgres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659886" y="2926080"/>
            <a:ext cx="166878" cy="0"/>
          </a:xfrm>
          <a:prstGeom prst="line">
            <a:avLst/>
          </a:prstGeom>
          <a:noFill/>
          <a:ln w="19050">
            <a:solidFill>
              <a:srgbClr val="2A2F3A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3863340" y="2240280"/>
            <a:ext cx="14173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FA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3340" y="2240280"/>
            <a:ext cx="1417320" cy="109728"/>
          </a:xfrm>
          <a:prstGeom prst="rect">
            <a:avLst/>
          </a:prstGeom>
          <a:solidFill>
            <a:srgbClr val="2A2F3A"/>
          </a:solidFill>
          <a:ln/>
        </p:spPr>
      </p:sp>
      <p:sp>
        <p:nvSpPr>
          <p:cNvPr id="17" name="Text 15"/>
          <p:cNvSpPr/>
          <p:nvPr/>
        </p:nvSpPr>
        <p:spPr>
          <a:xfrm>
            <a:off x="3863340" y="2441448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936492" y="2834640"/>
            <a:ext cx="12710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E63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human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i="1" dirty="0">
                <a:solidFill>
                  <a:srgbClr val="6E63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instructions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317236" y="2926080"/>
            <a:ext cx="166878" cy="0"/>
          </a:xfrm>
          <a:prstGeom prst="line">
            <a:avLst/>
          </a:prstGeom>
          <a:noFill/>
          <a:ln w="19050">
            <a:solidFill>
              <a:srgbClr val="2A2F3A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5520690" y="2240280"/>
            <a:ext cx="14173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FA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520690" y="2240280"/>
            <a:ext cx="1417320" cy="109728"/>
          </a:xfrm>
          <a:prstGeom prst="rect">
            <a:avLst/>
          </a:prstGeom>
          <a:solidFill>
            <a:srgbClr val="C84B31"/>
          </a:solidFill>
          <a:ln/>
        </p:spPr>
      </p:sp>
      <p:sp>
        <p:nvSpPr>
          <p:cNvPr id="22" name="Text 20"/>
          <p:cNvSpPr/>
          <p:nvPr/>
        </p:nvSpPr>
        <p:spPr>
          <a:xfrm>
            <a:off x="5520690" y="2441448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593842" y="2834640"/>
            <a:ext cx="12710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E63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engine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974586" y="2926080"/>
            <a:ext cx="166878" cy="0"/>
          </a:xfrm>
          <a:prstGeom prst="line">
            <a:avLst/>
          </a:prstGeom>
          <a:noFill/>
          <a:ln w="19050">
            <a:solidFill>
              <a:srgbClr val="2A2F3A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7178040" y="2240280"/>
            <a:ext cx="14173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FA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178040" y="2240280"/>
            <a:ext cx="1417320" cy="109728"/>
          </a:xfrm>
          <a:prstGeom prst="rect">
            <a:avLst/>
          </a:prstGeom>
          <a:solidFill>
            <a:srgbClr val="5A7A6B"/>
          </a:solidFill>
          <a:ln/>
        </p:spPr>
      </p:sp>
      <p:sp>
        <p:nvSpPr>
          <p:cNvPr id="27" name="Text 25"/>
          <p:cNvSpPr/>
          <p:nvPr/>
        </p:nvSpPr>
        <p:spPr>
          <a:xfrm>
            <a:off x="7178040" y="2441448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251192" y="2834640"/>
            <a:ext cx="12710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E63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video · pdf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i="1" dirty="0">
                <a:solidFill>
                  <a:srgbClr val="6E63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social · web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48640" y="1783080"/>
            <a:ext cx="3685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6E6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  ·  existing data + new / news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1257300" y="2084832"/>
            <a:ext cx="0" cy="118872"/>
          </a:xfrm>
          <a:prstGeom prst="line">
            <a:avLst/>
          </a:prstGeom>
          <a:noFill/>
          <a:ln w="12700">
            <a:solidFill>
              <a:srgbClr val="6E635A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548640" y="4229100"/>
            <a:ext cx="731520" cy="0"/>
          </a:xfrm>
          <a:prstGeom prst="line">
            <a:avLst/>
          </a:prstGeom>
          <a:noFill/>
          <a:ln w="15240">
            <a:solidFill>
              <a:srgbClr val="C84B3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8640" y="43662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A2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Ingest is the only thing that changes per IP.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48640" y="46863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Storage, engine, and surfaces are shared infrastructure — partners never touch code.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84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 ·  LIVE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046720" y="38404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E6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13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0F14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IPs running today.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502920" y="1828800"/>
            <a:ext cx="393192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FA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103120"/>
            <a:ext cx="594360" cy="256032"/>
          </a:xfrm>
          <a:prstGeom prst="roundRect">
            <a:avLst>
              <a:gd name="adj" fmla="val 50000"/>
            </a:avLst>
          </a:prstGeom>
          <a:solidFill>
            <a:srgbClr val="5D8B5C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103120"/>
            <a:ext cx="594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77240" y="251460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F14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vizmaya.fyi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777240" y="320040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A2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Geopolitics · Economics · Technology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77240" y="3703320"/>
            <a:ext cx="3383280" cy="0"/>
          </a:xfrm>
          <a:prstGeom prst="line">
            <a:avLst/>
          </a:prstGeom>
          <a:noFill/>
          <a:ln w="12700">
            <a:solidFill>
              <a:srgbClr val="C9BFA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379476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E6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17+ published stories  ·  2 live epics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77240" y="402336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84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STEWARD  ·  SUPRO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09160" y="1828800"/>
            <a:ext cx="393192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FA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983480" y="2103120"/>
            <a:ext cx="594360" cy="256032"/>
          </a:xfrm>
          <a:prstGeom prst="roundRect">
            <a:avLst>
              <a:gd name="adj" fmla="val 50000"/>
            </a:avLst>
          </a:prstGeom>
          <a:solidFill>
            <a:srgbClr val="5D8B5C"/>
          </a:solidFill>
          <a:ln/>
        </p:spPr>
      </p:sp>
      <p:sp>
        <p:nvSpPr>
          <p:cNvPr id="15" name="Text 13"/>
          <p:cNvSpPr/>
          <p:nvPr/>
        </p:nvSpPr>
        <p:spPr>
          <a:xfrm>
            <a:off x="4983480" y="2103120"/>
            <a:ext cx="594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983480" y="251460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F14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Footshort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4983480" y="320040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A2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Football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983480" y="3703320"/>
            <a:ext cx="3383280" cy="0"/>
          </a:xfrm>
          <a:prstGeom prst="line">
            <a:avLst/>
          </a:prstGeom>
          <a:noFill/>
          <a:ln w="12700">
            <a:solidFill>
              <a:srgbClr val="C9BFA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983480" y="379476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E6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· Mobile · Native vertical bundle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983480" y="402336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84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STEWARD  ·  SUPRO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48640" y="4549140"/>
            <a:ext cx="731520" cy="0"/>
          </a:xfrm>
          <a:prstGeom prst="line">
            <a:avLst/>
          </a:prstGeom>
          <a:noFill/>
          <a:ln w="15240">
            <a:solidFill>
              <a:srgbClr val="C84B3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46863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E63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Started with the two I could run alone — to harden the engine on real production load before bringing partners in.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84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 ·  IN MOTION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046720" y="38404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E6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13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0F14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next wave is partner-led.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0" kern="0" dirty="0">
                <a:solidFill>
                  <a:srgbClr val="B88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PRODUCTION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920240"/>
            <a:ext cx="8046720" cy="0"/>
          </a:xfrm>
          <a:prstGeom prst="line">
            <a:avLst/>
          </a:prstGeom>
          <a:noFill/>
          <a:ln w="6350">
            <a:solidFill>
              <a:srgbClr val="C9BFA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2011680"/>
            <a:ext cx="190881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FA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011680"/>
            <a:ext cx="73152" cy="1097280"/>
          </a:xfrm>
          <a:prstGeom prst="rect">
            <a:avLst/>
          </a:prstGeom>
          <a:solidFill>
            <a:srgbClr val="B8883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2176272"/>
            <a:ext cx="158877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F14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Kidzovo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49808" y="2560320"/>
            <a:ext cx="15887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2A2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Kids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49808" y="2788920"/>
            <a:ext cx="158877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B5A9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PARTNER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594610" y="2011680"/>
            <a:ext cx="190881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FA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94610" y="2011680"/>
            <a:ext cx="73152" cy="1097280"/>
          </a:xfrm>
          <a:prstGeom prst="rect">
            <a:avLst/>
          </a:prstGeom>
          <a:solidFill>
            <a:srgbClr val="B88830"/>
          </a:solidFill>
          <a:ln/>
        </p:spPr>
      </p:sp>
      <p:sp>
        <p:nvSpPr>
          <p:cNvPr id="14" name="Text 12"/>
          <p:cNvSpPr/>
          <p:nvPr/>
        </p:nvSpPr>
        <p:spPr>
          <a:xfrm>
            <a:off x="2795778" y="2176272"/>
            <a:ext cx="158877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F14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Protrip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795778" y="2560320"/>
            <a:ext cx="15887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2A2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Travel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795778" y="2788920"/>
            <a:ext cx="158877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B5A9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PARTNER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640580" y="2011680"/>
            <a:ext cx="190881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FA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40580" y="2011680"/>
            <a:ext cx="73152" cy="1097280"/>
          </a:xfrm>
          <a:prstGeom prst="rect">
            <a:avLst/>
          </a:prstGeom>
          <a:solidFill>
            <a:srgbClr val="B88830"/>
          </a:solidFill>
          <a:ln/>
        </p:spPr>
      </p:sp>
      <p:sp>
        <p:nvSpPr>
          <p:cNvPr id="19" name="Text 17"/>
          <p:cNvSpPr/>
          <p:nvPr/>
        </p:nvSpPr>
        <p:spPr>
          <a:xfrm>
            <a:off x="4841748" y="2176272"/>
            <a:ext cx="158877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F14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F1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841748" y="2560320"/>
            <a:ext cx="15887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2A2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Formula 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841748" y="2788920"/>
            <a:ext cx="158877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84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ROHIT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686550" y="2011680"/>
            <a:ext cx="190881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FA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686550" y="2011680"/>
            <a:ext cx="73152" cy="1097280"/>
          </a:xfrm>
          <a:prstGeom prst="rect">
            <a:avLst/>
          </a:prstGeom>
          <a:solidFill>
            <a:srgbClr val="B88830"/>
          </a:solidFill>
          <a:ln/>
        </p:spPr>
      </p:sp>
      <p:sp>
        <p:nvSpPr>
          <p:cNvPr id="24" name="Text 22"/>
          <p:cNvSpPr/>
          <p:nvPr/>
        </p:nvSpPr>
        <p:spPr>
          <a:xfrm>
            <a:off x="6887718" y="2176272"/>
            <a:ext cx="158877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F14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Enterprise + Finance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887718" y="2560320"/>
            <a:ext cx="15887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2A2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Markets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87718" y="2788920"/>
            <a:ext cx="158877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84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SHASHANK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48640" y="33375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0" kern="0" dirty="0">
                <a:solidFill>
                  <a:srgbClr val="4F8C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PIPELINE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C9BFA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48640" y="3657600"/>
            <a:ext cx="190881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FA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48640" y="3657600"/>
            <a:ext cx="73152" cy="1097280"/>
          </a:xfrm>
          <a:prstGeom prst="rect">
            <a:avLst/>
          </a:prstGeom>
          <a:solidFill>
            <a:srgbClr val="4F8C95"/>
          </a:solidFill>
          <a:ln/>
        </p:spPr>
      </p:sp>
      <p:sp>
        <p:nvSpPr>
          <p:cNvPr id="31" name="Text 29"/>
          <p:cNvSpPr/>
          <p:nvPr/>
        </p:nvSpPr>
        <p:spPr>
          <a:xfrm>
            <a:off x="749808" y="3822192"/>
            <a:ext cx="158877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F14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Skincare + Beauty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749808" y="4206240"/>
            <a:ext cx="15887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2A2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Beauty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749808" y="4434840"/>
            <a:ext cx="158877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84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VANSHIKA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2594610" y="3657600"/>
            <a:ext cx="190881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FA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594610" y="3657600"/>
            <a:ext cx="73152" cy="1097280"/>
          </a:xfrm>
          <a:prstGeom prst="rect">
            <a:avLst/>
          </a:prstGeom>
          <a:solidFill>
            <a:srgbClr val="4F8C95"/>
          </a:solidFill>
          <a:ln/>
        </p:spPr>
      </p:sp>
      <p:sp>
        <p:nvSpPr>
          <p:cNvPr id="36" name="Text 34"/>
          <p:cNvSpPr/>
          <p:nvPr/>
        </p:nvSpPr>
        <p:spPr>
          <a:xfrm>
            <a:off x="2795778" y="3822192"/>
            <a:ext cx="158877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F14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Fashion + Styling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2795778" y="4206240"/>
            <a:ext cx="15887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2A2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Style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2795778" y="4434840"/>
            <a:ext cx="158877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84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VANSHIKA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640580" y="3657600"/>
            <a:ext cx="190881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FA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640580" y="3657600"/>
            <a:ext cx="73152" cy="1097280"/>
          </a:xfrm>
          <a:prstGeom prst="rect">
            <a:avLst/>
          </a:prstGeom>
          <a:solidFill>
            <a:srgbClr val="4F8C95"/>
          </a:solidFill>
          <a:ln/>
        </p:spPr>
      </p:sp>
      <p:sp>
        <p:nvSpPr>
          <p:cNvPr id="41" name="Text 39"/>
          <p:cNvSpPr/>
          <p:nvPr/>
        </p:nvSpPr>
        <p:spPr>
          <a:xfrm>
            <a:off x="4841748" y="3822192"/>
            <a:ext cx="158877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F14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Music &amp; Events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4841748" y="4206240"/>
            <a:ext cx="15887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2A2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Culture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4841748" y="4434840"/>
            <a:ext cx="158877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84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RETRO BLXXD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686550" y="3657600"/>
            <a:ext cx="1908810" cy="1097280"/>
          </a:xfrm>
          <a:prstGeom prst="rect">
            <a:avLst/>
          </a:prstGeom>
          <a:solidFill>
            <a:srgbClr val="EBE3D2"/>
          </a:solidFill>
          <a:ln w="6350">
            <a:solidFill>
              <a:srgbClr val="C9BFA8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6686550" y="3657600"/>
            <a:ext cx="190881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B5A9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MORE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spc="300" kern="0" dirty="0">
                <a:solidFill>
                  <a:srgbClr val="B5A9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DEVELOPMENT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84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 ·  ON THE BENCH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046720" y="38404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E6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13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0F14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Domains I want to do, partner pending.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48640" y="18745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E63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Some have a person attached. The rest are open invitations to the right person.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2286000"/>
            <a:ext cx="2651760" cy="713232"/>
          </a:xfrm>
          <a:prstGeom prst="rect">
            <a:avLst/>
          </a:prstGeom>
          <a:solidFill>
            <a:srgbClr val="EBE3D2"/>
          </a:solidFill>
          <a:ln w="12700">
            <a:solidFill>
              <a:srgbClr val="C9BFA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2395728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F14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9808" y="274320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B5A9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 ·  LOOKING FOR THE RIGHT PERSON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3246120" y="2286000"/>
            <a:ext cx="2651760" cy="713232"/>
          </a:xfrm>
          <a:prstGeom prst="rect">
            <a:avLst/>
          </a:prstGeom>
          <a:solidFill>
            <a:srgbClr val="EBE3D2"/>
          </a:solidFill>
          <a:ln w="12700">
            <a:solidFill>
              <a:srgbClr val="C9BFA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47288" y="2395728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F14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Cricket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447288" y="274320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C84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SACHIN / SHUBHAM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5943600" y="2286000"/>
            <a:ext cx="2651760" cy="713232"/>
          </a:xfrm>
          <a:prstGeom prst="rect">
            <a:avLst/>
          </a:prstGeom>
          <a:solidFill>
            <a:srgbClr val="EBE3D2"/>
          </a:solidFill>
          <a:ln w="12700">
            <a:solidFill>
              <a:srgbClr val="C9BFA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144768" y="2395728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F14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Spirituality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144768" y="274320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C84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ROHIT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548640" y="3118104"/>
            <a:ext cx="2651760" cy="713232"/>
          </a:xfrm>
          <a:prstGeom prst="rect">
            <a:avLst/>
          </a:prstGeom>
          <a:solidFill>
            <a:srgbClr val="EBE3D2"/>
          </a:solidFill>
          <a:ln w="12700">
            <a:solidFill>
              <a:srgbClr val="C9BFA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49808" y="3227832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F14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Art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749808" y="3575304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B5A9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 ·  LOOKING FOR THE RIGHT PERSON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3246120" y="3118104"/>
            <a:ext cx="2651760" cy="713232"/>
          </a:xfrm>
          <a:prstGeom prst="rect">
            <a:avLst/>
          </a:prstGeom>
          <a:solidFill>
            <a:srgbClr val="EBE3D2"/>
          </a:solidFill>
          <a:ln w="12700">
            <a:solidFill>
              <a:srgbClr val="C9BFA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447288" y="3227832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F14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Entertainment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3447288" y="3575304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B5A9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 ·  LOOKING FOR THE RIGHT PERSON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5943600" y="3118104"/>
            <a:ext cx="2651760" cy="713232"/>
          </a:xfrm>
          <a:prstGeom prst="rect">
            <a:avLst/>
          </a:prstGeom>
          <a:solidFill>
            <a:srgbClr val="EBE3D2"/>
          </a:solidFill>
          <a:ln w="12700">
            <a:solidFill>
              <a:srgbClr val="C9BFA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44768" y="3227832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F14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Food &amp; Recipe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144768" y="3575304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B5A9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 ·  LOOKING FOR THE RIGHT PERSON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48640" y="3950208"/>
            <a:ext cx="2651760" cy="713232"/>
          </a:xfrm>
          <a:prstGeom prst="rect">
            <a:avLst/>
          </a:prstGeom>
          <a:solidFill>
            <a:srgbClr val="EBE3D2"/>
          </a:solidFill>
          <a:ln w="12700">
            <a:solidFill>
              <a:srgbClr val="C9BFA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49808" y="4059936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F14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Science / Space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749808" y="440740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B5A9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 ·  LOOKING FOR THE RIGHT PERSON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3246120" y="3950208"/>
            <a:ext cx="2651760" cy="713232"/>
          </a:xfrm>
          <a:prstGeom prst="rect">
            <a:avLst/>
          </a:prstGeom>
          <a:solidFill>
            <a:srgbClr val="EBE3D2"/>
          </a:solidFill>
          <a:ln w="12700">
            <a:solidFill>
              <a:srgbClr val="C9BFA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447288" y="4059936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F14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Pets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3447288" y="440740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B5A9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 ·  LOOKING FOR THE RIGHT PERSON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5943600" y="3950208"/>
            <a:ext cx="2651760" cy="713232"/>
          </a:xfrm>
          <a:prstGeom prst="rect">
            <a:avLst/>
          </a:prstGeom>
          <a:solidFill>
            <a:srgbClr val="EBE3D2"/>
          </a:solidFill>
          <a:ln w="12700">
            <a:solidFill>
              <a:srgbClr val="C9BFA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144768" y="4059936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F14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Manufacturing — India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6144768" y="440740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C84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PADMA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E07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046720" y="38404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B5A9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13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@vismay/viz-engine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29844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BE3D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runtime, three persistent layers.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18745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500" kern="0" dirty="0">
                <a:solidFill>
                  <a:srgbClr val="E07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STACK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194560"/>
            <a:ext cx="3931920" cy="502920"/>
          </a:xfrm>
          <a:prstGeom prst="rect">
            <a:avLst/>
          </a:prstGeom>
          <a:solidFill>
            <a:srgbClr val="2A2F3A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2194560"/>
            <a:ext cx="91440" cy="502920"/>
          </a:xfrm>
          <a:prstGeom prst="rect">
            <a:avLst/>
          </a:prstGeom>
          <a:solidFill>
            <a:srgbClr val="C84B31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2249424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CARDS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77240" y="245059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B5A99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markdown · snap-locked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48640" y="2788920"/>
            <a:ext cx="3931920" cy="502920"/>
          </a:xfrm>
          <a:prstGeom prst="rect">
            <a:avLst/>
          </a:prstGeom>
          <a:solidFill>
            <a:srgbClr val="2A2F3A"/>
          </a:solidFill>
          <a:ln/>
        </p:spPr>
      </p:sp>
      <p:sp>
        <p:nvSpPr>
          <p:cNvPr id="12" name="Shape 10"/>
          <p:cNvSpPr/>
          <p:nvPr/>
        </p:nvSpPr>
        <p:spPr>
          <a:xfrm>
            <a:off x="548640" y="2788920"/>
            <a:ext cx="91440" cy="502920"/>
          </a:xfrm>
          <a:prstGeom prst="rect">
            <a:avLst/>
          </a:prstGeom>
          <a:solidFill>
            <a:srgbClr val="5A7A6B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2843784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FOREGROUND VIZ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77240" y="30449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B5A99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ECharts · transitions in-place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48640" y="3383280"/>
            <a:ext cx="3931920" cy="502920"/>
          </a:xfrm>
          <a:prstGeom prst="rect">
            <a:avLst/>
          </a:prstGeom>
          <a:solidFill>
            <a:srgbClr val="2A2F3A"/>
          </a:solidFill>
          <a:ln/>
        </p:spPr>
      </p:sp>
      <p:sp>
        <p:nvSpPr>
          <p:cNvPr id="16" name="Shape 14"/>
          <p:cNvSpPr/>
          <p:nvPr/>
        </p:nvSpPr>
        <p:spPr>
          <a:xfrm>
            <a:off x="548640" y="3383280"/>
            <a:ext cx="91440" cy="502920"/>
          </a:xfrm>
          <a:prstGeom prst="rect">
            <a:avLst/>
          </a:prstGeom>
          <a:solidFill>
            <a:srgbClr val="4F8C95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3438144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VIZ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77240" y="363931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B5A99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Mapbox GL · persistent context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48640" y="393192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B5A9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Driven by IntersectionObserver. Persistent WebGL across the whole story.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937760" y="187452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500" kern="0" dirty="0">
                <a:solidFill>
                  <a:srgbClr val="E07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CARRIES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937760" y="2286000"/>
            <a:ext cx="73152" cy="73152"/>
          </a:xfrm>
          <a:prstGeom prst="ellipse">
            <a:avLst/>
          </a:prstGeom>
          <a:solidFill>
            <a:srgbClr val="C84B31"/>
          </a:solidFill>
          <a:ln/>
        </p:spPr>
      </p:sp>
      <p:sp>
        <p:nvSpPr>
          <p:cNvPr id="22" name="Text 20"/>
          <p:cNvSpPr/>
          <p:nvPr/>
        </p:nvSpPr>
        <p:spPr>
          <a:xfrm>
            <a:off x="5120640" y="2212848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 registry — map · chart · image · video · embed · rive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937760" y="2788920"/>
            <a:ext cx="73152" cy="73152"/>
          </a:xfrm>
          <a:prstGeom prst="ellipse">
            <a:avLst/>
          </a:prstGeom>
          <a:solidFill>
            <a:srgbClr val="C84B31"/>
          </a:solidFill>
          <a:ln/>
        </p:spPr>
      </p:sp>
      <p:sp>
        <p:nvSpPr>
          <p:cNvPr id="24" name="Text 22"/>
          <p:cNvSpPr/>
          <p:nvPr/>
        </p:nvSpPr>
        <p:spPr>
          <a:xfrm>
            <a:off x="5120640" y="2715768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Verticals as tree-shaken plugins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937760" y="3291840"/>
            <a:ext cx="73152" cy="73152"/>
          </a:xfrm>
          <a:prstGeom prst="ellipse">
            <a:avLst/>
          </a:prstGeom>
          <a:solidFill>
            <a:srgbClr val="C84B31"/>
          </a:solidFill>
          <a:ln/>
        </p:spPr>
      </p:sp>
      <p:sp>
        <p:nvSpPr>
          <p:cNvPr id="26" name="Text 24"/>
          <p:cNvSpPr/>
          <p:nvPr/>
        </p:nvSpPr>
        <p:spPr>
          <a:xfrm>
            <a:off x="5120640" y="3218688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Render pipelines — MP4 · PDF · TTS audio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937760" y="3794760"/>
            <a:ext cx="73152" cy="73152"/>
          </a:xfrm>
          <a:prstGeom prst="ellipse">
            <a:avLst/>
          </a:prstGeom>
          <a:solidFill>
            <a:srgbClr val="C84B31"/>
          </a:solidFill>
          <a:ln/>
        </p:spPr>
      </p:sp>
      <p:sp>
        <p:nvSpPr>
          <p:cNvPr id="28" name="Text 26"/>
          <p:cNvSpPr/>
          <p:nvPr/>
        </p:nvSpPr>
        <p:spPr>
          <a:xfrm>
            <a:off x="5120640" y="3721608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/admin authoring — no redeploys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0" y="4503420"/>
            <a:ext cx="9144000" cy="640080"/>
          </a:xfrm>
          <a:prstGeom prst="rect">
            <a:avLst/>
          </a:prstGeom>
          <a:solidFill>
            <a:srgbClr val="060A0E"/>
          </a:solidFill>
          <a:ln/>
        </p:spPr>
      </p:sp>
      <p:sp>
        <p:nvSpPr>
          <p:cNvPr id="30" name="Text 28"/>
          <p:cNvSpPr/>
          <p:nvPr/>
        </p:nvSpPr>
        <p:spPr>
          <a:xfrm>
            <a:off x="548640" y="46405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spc="100" kern="0" dirty="0">
                <a:solidFill>
                  <a:srgbClr val="B5A9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16  ·  React 19  ·  TypeScript  ·  Supabase  ·  Mapbox GL  ·  Apache ECharts  ·  GSAP  ·  Rive  ·  Playwright  ·  Gemini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84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 ·  VIZMAYA.FYI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046720" y="38404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E6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0F14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17+ live stories. One engine.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2679192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FA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691640"/>
            <a:ext cx="54864" cy="365760"/>
          </a:xfrm>
          <a:prstGeom prst="rect">
            <a:avLst/>
          </a:prstGeom>
          <a:solidFill>
            <a:srgbClr val="C84B31"/>
          </a:solidFill>
          <a:ln/>
        </p:spPr>
      </p:sp>
      <p:sp>
        <p:nvSpPr>
          <p:cNvPr id="7" name="Text 5"/>
          <p:cNvSpPr/>
          <p:nvPr/>
        </p:nvSpPr>
        <p:spPr>
          <a:xfrm>
            <a:off x="713232" y="1691640"/>
            <a:ext cx="2404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4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Currency rankings 2026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32404" y="1691640"/>
            <a:ext cx="2679192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FA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32404" y="1691640"/>
            <a:ext cx="54864" cy="365760"/>
          </a:xfrm>
          <a:prstGeom prst="rect">
            <a:avLst/>
          </a:prstGeom>
          <a:solidFill>
            <a:srgbClr val="C84B31"/>
          </a:solidFill>
          <a:ln/>
        </p:spPr>
      </p:sp>
      <p:sp>
        <p:nvSpPr>
          <p:cNvPr id="10" name="Text 8"/>
          <p:cNvSpPr/>
          <p:nvPr/>
        </p:nvSpPr>
        <p:spPr>
          <a:xfrm>
            <a:off x="3396996" y="1691640"/>
            <a:ext cx="2404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4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Who owns America's debt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916168" y="1691640"/>
            <a:ext cx="2679192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FA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916168" y="1691640"/>
            <a:ext cx="54864" cy="365760"/>
          </a:xfrm>
          <a:prstGeom prst="rect">
            <a:avLst/>
          </a:prstGeom>
          <a:solidFill>
            <a:srgbClr val="C84B31"/>
          </a:solidFill>
          <a:ln/>
        </p:spPr>
      </p:sp>
      <p:sp>
        <p:nvSpPr>
          <p:cNvPr id="13" name="Text 11"/>
          <p:cNvSpPr/>
          <p:nvPr/>
        </p:nvSpPr>
        <p:spPr>
          <a:xfrm>
            <a:off x="6080760" y="1691640"/>
            <a:ext cx="2404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4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Projected population 2050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2139696"/>
            <a:ext cx="2679192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FA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2139696"/>
            <a:ext cx="54864" cy="365760"/>
          </a:xfrm>
          <a:prstGeom prst="rect">
            <a:avLst/>
          </a:prstGeom>
          <a:solidFill>
            <a:srgbClr val="C84B31"/>
          </a:solidFill>
          <a:ln/>
        </p:spPr>
      </p:sp>
      <p:sp>
        <p:nvSpPr>
          <p:cNvPr id="16" name="Text 14"/>
          <p:cNvSpPr/>
          <p:nvPr/>
        </p:nvSpPr>
        <p:spPr>
          <a:xfrm>
            <a:off x="713232" y="2139696"/>
            <a:ext cx="2404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4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World Cup 2026 atlas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232404" y="2139696"/>
            <a:ext cx="2679192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FA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32404" y="2139696"/>
            <a:ext cx="54864" cy="365760"/>
          </a:xfrm>
          <a:prstGeom prst="rect">
            <a:avLst/>
          </a:prstGeom>
          <a:solidFill>
            <a:srgbClr val="C84B31"/>
          </a:solidFill>
          <a:ln/>
        </p:spPr>
      </p:sp>
      <p:sp>
        <p:nvSpPr>
          <p:cNvPr id="19" name="Text 17"/>
          <p:cNvSpPr/>
          <p:nvPr/>
        </p:nvSpPr>
        <p:spPr>
          <a:xfrm>
            <a:off x="3396996" y="2139696"/>
            <a:ext cx="2404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4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India fuel prices 2026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916168" y="2139696"/>
            <a:ext cx="2679192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FA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16168" y="2139696"/>
            <a:ext cx="54864" cy="365760"/>
          </a:xfrm>
          <a:prstGeom prst="rect">
            <a:avLst/>
          </a:prstGeom>
          <a:solidFill>
            <a:srgbClr val="C84B31"/>
          </a:solidFill>
          <a:ln/>
        </p:spPr>
      </p:sp>
      <p:sp>
        <p:nvSpPr>
          <p:cNvPr id="22" name="Text 20"/>
          <p:cNvSpPr/>
          <p:nvPr/>
        </p:nvSpPr>
        <p:spPr>
          <a:xfrm>
            <a:off x="6080760" y="2139696"/>
            <a:ext cx="2404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4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South Korea GPU-hour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48640" y="2587752"/>
            <a:ext cx="2679192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FA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2587752"/>
            <a:ext cx="54864" cy="365760"/>
          </a:xfrm>
          <a:prstGeom prst="rect">
            <a:avLst/>
          </a:prstGeom>
          <a:solidFill>
            <a:srgbClr val="C84B31"/>
          </a:solidFill>
          <a:ln/>
        </p:spPr>
      </p:sp>
      <p:sp>
        <p:nvSpPr>
          <p:cNvPr id="25" name="Text 23"/>
          <p:cNvSpPr/>
          <p:nvPr/>
        </p:nvSpPr>
        <p:spPr>
          <a:xfrm>
            <a:off x="713232" y="2587752"/>
            <a:ext cx="2404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4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European AI adoption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232404" y="2587752"/>
            <a:ext cx="2679192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FA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32404" y="2587752"/>
            <a:ext cx="54864" cy="365760"/>
          </a:xfrm>
          <a:prstGeom prst="rect">
            <a:avLst/>
          </a:prstGeom>
          <a:solidFill>
            <a:srgbClr val="C84B31"/>
          </a:solidFill>
          <a:ln/>
        </p:spPr>
      </p:sp>
      <p:sp>
        <p:nvSpPr>
          <p:cNvPr id="28" name="Text 26"/>
          <p:cNvSpPr/>
          <p:nvPr/>
        </p:nvSpPr>
        <p:spPr>
          <a:xfrm>
            <a:off x="3396996" y="2587752"/>
            <a:ext cx="2404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4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Prediction markets illusion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916168" y="2587752"/>
            <a:ext cx="2679192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FA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16168" y="2587752"/>
            <a:ext cx="54864" cy="365760"/>
          </a:xfrm>
          <a:prstGeom prst="rect">
            <a:avLst/>
          </a:prstGeom>
          <a:solidFill>
            <a:srgbClr val="C84B31"/>
          </a:solidFill>
          <a:ln/>
        </p:spPr>
      </p:sp>
      <p:sp>
        <p:nvSpPr>
          <p:cNvPr id="31" name="Text 29"/>
          <p:cNvSpPr/>
          <p:nvPr/>
        </p:nvSpPr>
        <p:spPr>
          <a:xfrm>
            <a:off x="6080760" y="2587752"/>
            <a:ext cx="2404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4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Great Nicobar project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48640" y="3035808"/>
            <a:ext cx="2679192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FA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48640" y="3035808"/>
            <a:ext cx="54864" cy="365760"/>
          </a:xfrm>
          <a:prstGeom prst="rect">
            <a:avLst/>
          </a:prstGeom>
          <a:solidFill>
            <a:srgbClr val="C84B31"/>
          </a:solidFill>
          <a:ln/>
        </p:spPr>
      </p:sp>
      <p:sp>
        <p:nvSpPr>
          <p:cNvPr id="34" name="Text 32"/>
          <p:cNvSpPr/>
          <p:nvPr/>
        </p:nvSpPr>
        <p:spPr>
          <a:xfrm>
            <a:off x="713232" y="3035808"/>
            <a:ext cx="2404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4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Press freedom 2026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3232404" y="3035808"/>
            <a:ext cx="2679192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FA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232404" y="3035808"/>
            <a:ext cx="54864" cy="365760"/>
          </a:xfrm>
          <a:prstGeom prst="rect">
            <a:avLst/>
          </a:prstGeom>
          <a:solidFill>
            <a:srgbClr val="C84B31"/>
          </a:solidFill>
          <a:ln/>
        </p:spPr>
      </p:sp>
      <p:sp>
        <p:nvSpPr>
          <p:cNvPr id="37" name="Text 35"/>
          <p:cNvSpPr/>
          <p:nvPr/>
        </p:nvSpPr>
        <p:spPr>
          <a:xfrm>
            <a:off x="3396996" y="3035808"/>
            <a:ext cx="2404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4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GDP growth 2026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5916168" y="3035808"/>
            <a:ext cx="2679192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FA8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916168" y="3035808"/>
            <a:ext cx="54864" cy="365760"/>
          </a:xfrm>
          <a:prstGeom prst="rect">
            <a:avLst/>
          </a:prstGeom>
          <a:solidFill>
            <a:srgbClr val="C84B31"/>
          </a:solidFill>
          <a:ln/>
        </p:spPr>
      </p:sp>
      <p:sp>
        <p:nvSpPr>
          <p:cNvPr id="40" name="Text 38"/>
          <p:cNvSpPr/>
          <p:nvPr/>
        </p:nvSpPr>
        <p:spPr>
          <a:xfrm>
            <a:off x="6080760" y="3035808"/>
            <a:ext cx="2404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4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Largest armies 2026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548640" y="35204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E6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five more on geopolitics, housing, delimitation, AI adoption, and economic divides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0" y="4023360"/>
            <a:ext cx="9144000" cy="1120140"/>
          </a:xfrm>
          <a:prstGeom prst="rect">
            <a:avLst/>
          </a:prstGeom>
          <a:solidFill>
            <a:srgbClr val="EBE3D2"/>
          </a:solidFill>
          <a:ln/>
        </p:spPr>
      </p:sp>
      <p:sp>
        <p:nvSpPr>
          <p:cNvPr id="43" name="Text 41"/>
          <p:cNvSpPr/>
          <p:nvPr/>
        </p:nvSpPr>
        <p:spPr>
          <a:xfrm>
            <a:off x="548640" y="4114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0" kern="0" dirty="0">
                <a:solidFill>
                  <a:srgbClr val="5A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EPICS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48640" y="437083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4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/energy-profile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2331720" y="438912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2A2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daily IEA news ingest + 33-country OWID energy data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548640" y="473659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4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/epstein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2331720" y="475488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2A2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curated story set with a bespoke landing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84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046720" y="38404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E6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0F14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Breadth is a feature, not a tradeoff.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48640" y="18288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C84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371600" y="1865376"/>
            <a:ext cx="7223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F14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Engine carries production value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371600" y="2176272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6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IP launches with publication-grade rendering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246888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C84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1371600" y="2505456"/>
            <a:ext cx="7223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F14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Partner carries authenticity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371600" y="2816352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6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voice is the human, not the platform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48640" y="310896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C84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1371600" y="3145536"/>
            <a:ext cx="7223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F14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Pipeline keeps ingest honest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371600" y="3456432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6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domain has its own scrapers and tagging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48640" y="374904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C84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1371600" y="3785616"/>
            <a:ext cx="7223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F14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stay close enough to keep taste high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371600" y="4096512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6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craft work at scale, not factory work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48640" y="4617720"/>
            <a:ext cx="731520" cy="0"/>
          </a:xfrm>
          <a:prstGeom prst="line">
            <a:avLst/>
          </a:prstGeom>
          <a:noFill/>
          <a:ln w="15240">
            <a:solidFill>
              <a:srgbClr val="C84B3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47548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E63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small label with a shared studio — the opposite of a content farm.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84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046720" y="38404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E6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0F14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What's next.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91440" cy="566928"/>
          </a:xfrm>
          <a:prstGeom prst="rect">
            <a:avLst/>
          </a:prstGeom>
          <a:solidFill>
            <a:srgbClr val="C84B31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80136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0" kern="0" dirty="0">
                <a:solidFill>
                  <a:srgbClr val="C84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77240" y="2057400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Extract data-bound football components into @vismay/footshort-viz. Decide on a native React Native engine when mobile editorial usage justifies it.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441448"/>
            <a:ext cx="91440" cy="566928"/>
          </a:xfrm>
          <a:prstGeom prst="rect">
            <a:avLst/>
          </a:prstGeom>
          <a:solidFill>
            <a:srgbClr val="5A7A6B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245973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0" kern="0" dirty="0">
                <a:solidFill>
                  <a:srgbClr val="5A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77240" y="2715768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Bring the four in-production partners — Kidzovo, Protrip, F1, Enterprise &amp; Finance — to first launch.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3099816"/>
            <a:ext cx="91440" cy="566928"/>
          </a:xfrm>
          <a:prstGeom prst="rect">
            <a:avLst/>
          </a:prstGeom>
          <a:solidFill>
            <a:srgbClr val="4F8C95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3118104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0" kern="0" dirty="0">
                <a:solidFill>
                  <a:srgbClr val="4F8C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TOOLING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77240" y="3374136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Admin polish, validation, type-narrowed YAML so partners self-serve more.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758184"/>
            <a:ext cx="91440" cy="566928"/>
          </a:xfrm>
          <a:prstGeom prst="rect">
            <a:avLst/>
          </a:prstGeom>
          <a:solidFill>
            <a:srgbClr val="B88830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377647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0" kern="0" dirty="0">
                <a:solidFill>
                  <a:srgbClr val="B88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77240" y="4032504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Fill the open partner slots on the bench. Right person beats fast person.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4663440"/>
            <a:ext cx="731520" cy="0"/>
          </a:xfrm>
          <a:prstGeom prst="line">
            <a:avLst/>
          </a:prstGeom>
          <a:noFill/>
          <a:ln w="15240">
            <a:solidFill>
              <a:srgbClr val="C84B3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477316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E63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Triggers are explicit — don't pull a roadmap item early just because there's capacity.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E07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INVITATION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Who I'm looking for.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594360" y="2340864"/>
            <a:ext cx="128016" cy="128016"/>
          </a:xfrm>
          <a:prstGeom prst="ellipse">
            <a:avLst/>
          </a:prstGeom>
          <a:solidFill>
            <a:srgbClr val="C84B31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219456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FRIENDS WITH A REAL OBSESSION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68680" y="25146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B5A99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a domain on (or off) the list — pets, manufacturing, food, science, art, architecture, sport.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94360" y="2980944"/>
            <a:ext cx="128016" cy="128016"/>
          </a:xfrm>
          <a:prstGeom prst="ellipse">
            <a:avLst/>
          </a:prstGeom>
          <a:solidFill>
            <a:srgbClr val="C84B31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283464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COLLABORATORS ON THE ENGINE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68680" y="315468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B5A99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verticals, native rendering, content tooling, admin DX.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94360" y="3621024"/>
            <a:ext cx="128016" cy="128016"/>
          </a:xfrm>
          <a:prstGeom prst="ellipse">
            <a:avLst/>
          </a:prstGeom>
          <a:solidFill>
            <a:srgbClr val="C84B31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34747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WHO WANT A PIECE OF THE INTERNET BACK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68680" y="379476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B5A99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named, slow, human, built for the long run.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0" y="4274820"/>
            <a:ext cx="9144000" cy="868680"/>
          </a:xfrm>
          <a:prstGeom prst="rect">
            <a:avLst/>
          </a:prstGeom>
          <a:solidFill>
            <a:srgbClr val="060A0E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439369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Supro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548640" y="47777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E07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hello@promad.design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120640" y="45948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400" kern="0" dirty="0">
                <a:solidFill>
                  <a:srgbClr val="B5A9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vismay  ·  vizmaya.fyi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Vismay</dc:title>
  <dc:subject>PptxGenJS Presentation</dc:subject>
  <dc:creator>Supro</dc:creator>
  <cp:lastModifiedBy>Supro</cp:lastModifiedBy>
  <cp:revision>1</cp:revision>
  <dcterms:created xsi:type="dcterms:W3CDTF">2026-05-18T05:28:58Z</dcterms:created>
  <dcterms:modified xsi:type="dcterms:W3CDTF">2026-05-18T05:28:58Z</dcterms:modified>
</cp:coreProperties>
</file>